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8" r:id="rId2"/>
    <p:sldId id="259" r:id="rId3"/>
    <p:sldId id="260" r:id="rId4"/>
    <p:sldId id="271" r:id="rId5"/>
    <p:sldId id="425" r:id="rId6"/>
    <p:sldId id="414" r:id="rId7"/>
    <p:sldId id="443" r:id="rId8"/>
    <p:sldId id="422" r:id="rId9"/>
    <p:sldId id="420" r:id="rId10"/>
    <p:sldId id="415" r:id="rId11"/>
    <p:sldId id="423" r:id="rId12"/>
    <p:sldId id="419" r:id="rId13"/>
    <p:sldId id="426" r:id="rId14"/>
    <p:sldId id="309" r:id="rId15"/>
    <p:sldId id="448" r:id="rId16"/>
    <p:sldId id="310" r:id="rId17"/>
    <p:sldId id="421" r:id="rId18"/>
    <p:sldId id="417" r:id="rId19"/>
    <p:sldId id="450" r:id="rId20"/>
    <p:sldId id="444" r:id="rId21"/>
    <p:sldId id="449" r:id="rId22"/>
    <p:sldId id="456" r:id="rId23"/>
    <p:sldId id="438" r:id="rId24"/>
    <p:sldId id="441" r:id="rId25"/>
    <p:sldId id="439" r:id="rId26"/>
    <p:sldId id="454" r:id="rId27"/>
    <p:sldId id="455" r:id="rId28"/>
    <p:sldId id="451" r:id="rId29"/>
    <p:sldId id="416" r:id="rId30"/>
    <p:sldId id="446" r:id="rId31"/>
    <p:sldId id="272" r:id="rId32"/>
    <p:sldId id="277" r:id="rId33"/>
    <p:sldId id="447" r:id="rId34"/>
    <p:sldId id="432" r:id="rId35"/>
    <p:sldId id="273" r:id="rId36"/>
    <p:sldId id="274" r:id="rId37"/>
    <p:sldId id="452" r:id="rId38"/>
    <p:sldId id="275" r:id="rId39"/>
    <p:sldId id="269" r:id="rId4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333"/>
    <a:srgbClr val="116589"/>
    <a:srgbClr val="F2CFEE"/>
    <a:srgbClr val="00BCFF"/>
    <a:srgbClr val="FFF86D"/>
    <a:srgbClr val="FCFEBD"/>
    <a:srgbClr val="D1D1D1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23"/>
    <p:restoredTop sz="96327"/>
  </p:normalViewPr>
  <p:slideViewPr>
    <p:cSldViewPr snapToGrid="0" showGuides="1">
      <p:cViewPr varScale="1">
        <p:scale>
          <a:sx n="115" d="100"/>
          <a:sy n="115" d="100"/>
        </p:scale>
        <p:origin x="22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0C01B-6A7C-1640-BE5E-A0156641C32A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2EEE-4BCE-B745-93D5-6EC9759C3E3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882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</a:t>
            </a:r>
            <a:r>
              <a:rPr lang="ko-KR" altLang="en-US" dirty="0" err="1"/>
              <a:t>계산인지정서신경과학</a:t>
            </a:r>
            <a:r>
              <a:rPr lang="ko-KR" altLang="en-US" dirty="0"/>
              <a:t> 연구실의 이정인입니다</a:t>
            </a:r>
            <a:r>
              <a:rPr lang="en-US" altLang="ko-KR" dirty="0"/>
              <a:t>. </a:t>
            </a:r>
            <a:r>
              <a:rPr lang="ko-KR" altLang="en-US" dirty="0"/>
              <a:t>물 섭취와 갈증 변화의 관계 연구에 참여해 주셔서 감사드립니다</a:t>
            </a:r>
            <a:r>
              <a:rPr lang="en-US" altLang="ko-KR" dirty="0"/>
              <a:t>. </a:t>
            </a:r>
            <a:r>
              <a:rPr lang="ko-KR" altLang="en-US" dirty="0"/>
              <a:t>지금부터 실험을 설명해 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1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실험의 목적은 물 섭취 과정과 갈증 해소 간의 관계를 알아보기 위한 연구입니다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85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 보시는 것이 연구 전체 진행 순서입니다</a:t>
            </a:r>
            <a:r>
              <a:rPr lang="en-US" altLang="ko-KR" dirty="0"/>
              <a:t>. </a:t>
            </a:r>
            <a:r>
              <a:rPr lang="ko-KR" altLang="en-US" dirty="0"/>
              <a:t>참가자님은 최소 일주일 간격으로 총 </a:t>
            </a:r>
            <a:r>
              <a:rPr lang="en-US" altLang="ko-KR" dirty="0"/>
              <a:t>2</a:t>
            </a:r>
            <a:r>
              <a:rPr lang="ko-KR" altLang="en-US" dirty="0"/>
              <a:t>번 방문하시게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번의 방문 당 </a:t>
            </a:r>
            <a:r>
              <a:rPr lang="en-US" altLang="ko-KR" dirty="0"/>
              <a:t>1</a:t>
            </a:r>
            <a:r>
              <a:rPr lang="ko-KR" altLang="en-US" dirty="0"/>
              <a:t>시간에서 </a:t>
            </a:r>
            <a:r>
              <a:rPr lang="en-US" altLang="ko-KR" dirty="0"/>
              <a:t>1</a:t>
            </a:r>
            <a:r>
              <a:rPr lang="ko-KR" altLang="en-US" dirty="0"/>
              <a:t>시간 반 정도 소요됩니다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실험은 실험 전날 준비가 요구되는 실험입니다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43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BC46-6D08-10A9-5DAE-EF3A6B2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8DF6A-673E-0A64-5D22-23EC8D124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CFFCC-216B-F9E9-AD8F-5A028CD75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사전 준비를 하시고 난 후</a:t>
            </a:r>
            <a:r>
              <a:rPr lang="en-US" altLang="ko-KR" dirty="0"/>
              <a:t>, </a:t>
            </a:r>
            <a:r>
              <a:rPr lang="ko-KR" altLang="en-US" dirty="0"/>
              <a:t>실험 당일에는 다음과 같은 순서로 실험이 진행됩니다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참가자님의 컨디션을 몇 가지 질문을 통해 확인합니다</a:t>
            </a:r>
            <a:r>
              <a:rPr lang="en-US" altLang="ko-KR" dirty="0"/>
              <a:t>. </a:t>
            </a:r>
            <a:r>
              <a:rPr lang="ko-KR" altLang="en-US" dirty="0"/>
              <a:t>이후에 실험 진행이 가능하다고 판단이 되면 앞으로 이루어질 실험 과정을 </a:t>
            </a:r>
            <a:r>
              <a:rPr lang="ko-KR" altLang="en-US" dirty="0" err="1"/>
              <a:t>설명드리고</a:t>
            </a:r>
            <a:r>
              <a:rPr lang="ko-KR" altLang="en-US" dirty="0"/>
              <a:t> 필요한 서류를 작성하시게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설명드린</a:t>
            </a:r>
            <a:r>
              <a:rPr lang="ko-KR" altLang="en-US" dirty="0"/>
              <a:t> 과제를 한번 연습해보는 시간을 갖습니다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3296-6B70-00D6-E9EF-9DA799885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7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8EC-D207-79D0-62A8-64ACD012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A2A907-73A2-D656-B7B5-B7093A4E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A30B0-7002-02F5-CA14-81B70AEF2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91AC1D-43F7-1807-49EC-B83C44F50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5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58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5A07-43F4-960D-7E4E-56922C1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B9DAE-3474-8AAB-CB1E-60EFA0169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CB53A9-8A9E-639D-265C-0C5FC915B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CCF55-B0A6-39A2-99D2-D7C8B891E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8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7B88-312E-58FB-EE2E-B1F690C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7E8D28-9807-1ED4-C36B-506EF62FB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40459-DCCB-D6EE-E0F6-753EB289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72057-A042-F7BB-0325-27FDDEF86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12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EAF9-5519-E186-1008-0349A522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36871-510A-712E-B34D-9FBAF35F9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D4970-1E13-2154-CEEE-13F07414A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단어 연상을 </a:t>
            </a:r>
            <a:r>
              <a:rPr kumimoji="1" lang="en-US" altLang="ko-KR" dirty="0"/>
              <a:t>40</a:t>
            </a:r>
            <a:r>
              <a:rPr kumimoji="1" lang="ko-KR" altLang="en-US" dirty="0"/>
              <a:t>회 하게 됩니다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7EF66-2BD1-B3EA-66E1-02683BB08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8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85E3-3375-49DF-6714-6C1BEB8F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7E918-2DEF-BC0C-F3E9-0988AF28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7C148-133F-72B4-B15D-66EDDD6FE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B5738-67D4-43E2-60C6-BE4E4AC1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9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768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E31-46AA-6FA7-611C-57422A87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90DA7E-95DF-75F9-3B1D-811049A7D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7B0632-C8EE-2473-1321-04EB1C14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9C94F-6E48-9CD5-6513-BC624EBA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76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CB15-6558-F074-4DAE-A9D132F1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36AF6-5020-D0CD-C34B-086425CB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A71E-1897-29D1-D22C-36D1B277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연상한 단어들에 대한 평가가 이루어집니다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DD174-921F-EF70-52C6-B086024F4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12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85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A221-E8DE-78E4-1A17-911F86AF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86E21-6EBA-3BDB-E1DB-62531A574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CCA90-D6EF-7D9F-B5A4-1A370BC7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96D57-1D9C-DB73-6E28-316D4C543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13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73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268DB-C6F3-B74A-8CFF-952305433133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3768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ABEC-EF9E-C793-7230-3ECF217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900403-6613-F33A-DF1F-A568B96FB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D9789-2B3D-0AAC-C4CB-17450766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C8F91-4B99-95AC-CF7B-7D5B56A57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833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C3C-7CD3-408F-C8A7-49ED6E08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AA68F-31C8-C765-B612-5191BB131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168344-4FFE-82D7-0857-13ADBCB88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73DB1-13B8-8032-197F-E4BC32C70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1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A737-98F2-77E8-DB36-4709F30F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A96E7-B4A6-AD47-53AB-B1D3819E5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C3879-FFB5-3EDD-C691-637C70F7F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93C845-8DAC-547F-374A-18B2F7B15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21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85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53EC-5148-2098-FF2E-B2AD3332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D727F-A143-21CB-9FF2-D61AC7394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8BB1EC-B1EC-3A7E-0846-5CC7F945B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84525-CE16-6C7E-22A4-71489E561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180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6AA5-39C6-A555-591C-B8E4FC56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6F9047-B5F0-945B-E7DF-71E340358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6D93BC-FA7A-EA85-0816-22ECBF303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1DC3D-FA3E-3D87-357C-30493561D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5930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DA1A-4C61-38EA-4A47-0AFADA36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4EA2B-18C2-F1DD-466B-2466FC438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0876A1-1078-5785-1915-4AB25AB6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928F9-B895-5E50-1664-ACD69E53A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04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B2A3-272E-B6E3-A394-74F1262F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F78D-FB0B-D21C-3828-7F2EFB117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18167B-C92E-EF02-DD6D-79A1963F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B8065-52FF-9F96-5768-554CB60E7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8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AFA6-A4F5-B41C-029E-D8F92814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93D7F-DF6C-0CA4-C996-848A32E1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4E7361-2051-FE9B-4B29-8D1DB984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A0E2B-A263-812B-77BD-0B88EA6F8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123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F90-0221-C9A2-0C13-833A344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E5D52-3BE7-FD80-23D4-1EAB81BE2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F85E5-B9FE-2691-721E-737DD59F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FA706-BB2D-1387-A595-62C7EBD5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33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C71D-C1A8-2778-CE57-35E23E23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ACC2DC-69FE-A830-9296-151E1D03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BEB26-8809-38BB-561F-21D5176B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F313-622F-E0DC-64CF-377199C94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68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663E-69D9-B7D9-4117-56D62EC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C0ED2-DF4E-8833-896C-CC3B2A510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18709-4BA2-9C60-E3D3-3F9DFF54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DAE3A-2922-1AC8-07E5-02FFD192D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26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B719-AAFD-3D95-67ED-08DC4D2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57C20-69A5-A440-F18D-46A79E303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7C5CAF-F1CB-012B-4C52-F5CAABE3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4916A-640E-D37B-BB07-5624D8574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1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F3D5-6A9E-D6A1-869E-ACE40C9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43C84-3D07-2B61-843A-67620749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24C7-F684-B4B8-AF73-FA6E64BAB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2071-35C5-3E4E-3801-5A7091AFD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87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5D4F-C615-42E9-124F-B17DC4B2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3C4641-435A-B5E8-E272-7FDA0D9A3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763A7-C8E3-0FAA-ACF0-39F3BF90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BD5BD-C1E0-6A31-A32D-C3212AB32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387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1641-F02F-EA53-2568-E65A02EC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97F0D-A1BB-AB40-4455-12FA75D9A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CCEA9-5629-668E-126C-01A037288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D7389-16B1-263B-B650-1FCE459D6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01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쇼 마침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이것으로 실험에 대한 설명을 마쳤습니다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한 번 저희 실험에 참여해주셔서 감사드리고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참가자님의 성실한 참여가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뇌과학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발전에 큰 도움이 될 것입니다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궁금한 점이 있다면 자유롭게 질문해주세요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CF7DCF-6BB0-6840-9B6C-ABEEFE60E7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5348-FC17-2ADD-10BB-938EBE9F7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797B7-4573-242C-65AE-E5D26FE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72B83-128F-6129-5EBC-5CF5A6AB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74F53-DA20-A571-BFD0-90810879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647D1-1160-1DCA-338D-76D9F13B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199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5A66-F0F4-7281-E684-91BB1F8F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9E8E1-6B18-D3CC-B235-D4D05ED72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0288E-E98C-7793-F08C-DF5FD0A2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8BA01-2B40-5719-78FA-96E2B46F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A7872-5A59-3FE8-240A-9DEEFDB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296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C433-C72F-1590-5F31-8371DC21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A40F7-7289-B231-FF49-10639A9E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2664F-2227-30CC-E3F4-09D812A0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DAFDF-5EC0-4BC3-C102-0A22D8AF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AB0C9-2D15-945E-01EC-CCA59910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831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A729-35A6-BD12-220E-E31954BA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7AD05-BFC8-BE5F-B04A-250786CE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C2775-3EC5-CA20-EF34-C5000693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AD2D3-B4B9-67E9-5940-6FBE205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5586A-C380-43E5-051A-6FADB56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8795E-6FC6-84EC-1B4A-E6161E53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09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C620-69BB-C685-6793-2DEEBCB1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CD3F2-0547-D771-2F7D-DCCD6309B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ABB6C7-4A49-4088-80C9-F4A1FD32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BB470-A2FA-1A9D-DA39-403E7813B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F3FC3-8024-E82E-473D-1E9935BA7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1C64E-2764-49D5-C448-CF7EA098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009B5-7D52-1AF5-C7AA-D7E45EE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A6D5EA-5672-A998-5E71-5B81A53A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122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A9C3-AAD6-EE90-FAB3-27FC519C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9470E0-8C9E-4CEC-7DBE-942933D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6FCAB6-B55B-595B-1388-A7B8660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723D9A-0955-2EFB-05E6-CEE90AA4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17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8ED820-C32D-97FE-CFCE-0E600006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19BB2D-A0B5-00BE-D3AB-740BBC4A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7DA8-9DA6-B2F0-967C-27D1E330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343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491D5-33FC-E537-A983-0A7620F2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6D293-08F7-7F1A-2D42-67B13EC7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AB65EB-78B8-36C4-D291-7F61803A1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42B11-1613-834D-38FD-9308CD15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6C986-4C8B-C63B-D381-A581158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61205-2A15-2589-2FA1-ACBC1A01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16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FC77F-9DDE-A2E8-4DCC-7A2095F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6DCFEC-8030-01D7-CD1D-B2D0EA9BE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27E1D9-38F2-775D-38BA-91E71D6A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DE6FD-BC40-C61A-5B31-DF2A16ED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2DBE00-B7A2-38A7-C705-2B2375D6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46A1D-B966-6871-9C06-6E596D53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5904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0BE65-CF4B-2F89-626E-7F222361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AA8B0E-28DC-89DB-A246-DC50C68EE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DE930-8E20-108C-26DE-5FD89CBC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DC9A8-B597-20B1-4340-2E50EA0C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FE74E-145F-492F-CCA3-6454D932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7993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E3D829-48A1-681E-302C-5FFA51116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B53D6-7B4E-30A5-8A73-37A544AA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62094-AFBF-6132-7BD9-1419E38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98925-22D3-2EAA-7FE2-4560198D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1DC6B-A68B-17F4-E95F-64429EE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2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00DB72-A801-B878-FD88-4E068C55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F8BA-086A-5E44-9677-33AD78DC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D022A-9D3F-8365-DE3C-1DC9562E8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0F2D0-27FE-0641-8E0C-50C0F44D7F1F}" type="datetimeFigureOut">
              <a:rPr kumimoji="1" lang="ko-Kore-KR" altLang="en-US" smtClean="0"/>
              <a:t>2026. 6. 6.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A1EBD-2C29-F0D1-327E-2EEFC5BAC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2A092-2577-90EC-0FE2-AC728DB56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85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5FC1E-54C4-4229-92EF-AC16711B6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896"/>
            <a:ext cx="9144000" cy="2865403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갈증 변화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</a:t>
            </a:r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관계 연구</a:t>
            </a:r>
            <a:b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4E092-88D1-45B7-994F-12A66E3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276" y="4352149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성균관대학교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IBS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뇌과학이미징연구단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계산인지정서신경과학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연구실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348FCAD1-AC92-9FA0-87BC-E02A2BAB0728}"/>
              </a:ext>
            </a:extLst>
          </p:cNvPr>
          <p:cNvGrpSpPr>
            <a:grpSpLocks noChangeAspect="1"/>
          </p:cNvGrpSpPr>
          <p:nvPr/>
        </p:nvGrpSpPr>
        <p:grpSpPr>
          <a:xfrm>
            <a:off x="4488782" y="5911309"/>
            <a:ext cx="3214436" cy="695443"/>
            <a:chOff x="4111318" y="418660"/>
            <a:chExt cx="4525892" cy="9791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17373E-B866-5921-B3AE-5863CE99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A66088-2CF1-2D32-0E49-E400C327E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66715C-8BC4-ACEA-462F-1A913E695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C772B80-B493-684C-03B8-C9558B6D8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0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2"/>
    </mc:Choice>
    <mc:Fallback xmlns="">
      <p:transition spd="slow" advTm="18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74A08-E806-4DAD-90B8-9FF7979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실험의 목적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072B-286E-4B8F-8CC0-E62671EA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6" y="2477018"/>
            <a:ext cx="8625834" cy="2715197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 연구</a:t>
            </a: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</a:t>
            </a:r>
            <a:r>
              <a:rPr lang="ko-KR" altLang="en-US" sz="3000" b="1" dirty="0">
                <a:solidFill>
                  <a:srgbClr val="008B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endParaRPr lang="en-US" altLang="ko-KR" sz="3000" b="1" dirty="0">
              <a:solidFill>
                <a:srgbClr val="008B8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과정과 갈증 해소 간의 관계를 알아보기 위한 연구입니다</a:t>
            </a:r>
            <a:r>
              <a:rPr lang="en-US" altLang="ko-KR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ko-KR" altLang="en-US" sz="3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6793B-5D66-4F88-B350-DBB36C98FA9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16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1"/>
    </mc:Choice>
    <mc:Fallback xmlns="">
      <p:transition spd="slow" advTm="123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802FC63-1665-4F59-888A-6A065641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연구 진행 순서 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95AF2F-D433-42A6-A796-8B8C64FD2CF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A56956-F85C-C849-BDD2-5E6377D0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8" y="-2881878"/>
            <a:ext cx="12195688" cy="1947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A0A715-9519-2A6B-6734-08E25F5051CA}"/>
              </a:ext>
            </a:extLst>
          </p:cNvPr>
          <p:cNvSpPr txBox="1"/>
          <p:nvPr/>
        </p:nvSpPr>
        <p:spPr>
          <a:xfrm>
            <a:off x="3898727" y="1575144"/>
            <a:ext cx="4344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번의 방문 당 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시간 반 정도 소요됩니다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5C58CF-9354-7061-59C0-B6E0490521CE}"/>
              </a:ext>
            </a:extLst>
          </p:cNvPr>
          <p:cNvGrpSpPr/>
          <p:nvPr/>
        </p:nvGrpSpPr>
        <p:grpSpPr>
          <a:xfrm>
            <a:off x="701732" y="2890424"/>
            <a:ext cx="1727460" cy="934278"/>
            <a:chOff x="3012680" y="2755791"/>
            <a:chExt cx="1330720" cy="934278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CE0DF49-29DE-DAF2-1DF7-87A28BFCE7B1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450C6F-E686-72D5-990C-96BB0895BB68}"/>
                </a:ext>
              </a:extLst>
            </p:cNvPr>
            <p:cNvSpPr txBox="1"/>
            <p:nvPr/>
          </p:nvSpPr>
          <p:spPr>
            <a:xfrm>
              <a:off x="3012680" y="2904589"/>
              <a:ext cx="1326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1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2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시간</a:t>
              </a:r>
              <a:endPara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/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음식 제한</a:t>
              </a:r>
              <a:endPara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CC2FE37F-7E8A-F9C6-44CF-DBA087F92CB0}"/>
              </a:ext>
            </a:extLst>
          </p:cNvPr>
          <p:cNvSpPr/>
          <p:nvPr/>
        </p:nvSpPr>
        <p:spPr>
          <a:xfrm>
            <a:off x="479652" y="2477132"/>
            <a:ext cx="2228805" cy="2548765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F1A9EA-81BF-F79C-C605-874DE7555493}"/>
              </a:ext>
            </a:extLst>
          </p:cNvPr>
          <p:cNvSpPr txBox="1"/>
          <p:nvPr/>
        </p:nvSpPr>
        <p:spPr>
          <a:xfrm>
            <a:off x="801118" y="2268053"/>
            <a:ext cx="1498975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</a:t>
            </a:r>
            <a:r>
              <a:rPr kumimoji="1" lang="en-US" altLang="ko-Kore-KR" sz="2400" b="1" dirty="0">
                <a:solidFill>
                  <a:srgbClr val="116589"/>
                </a:solidFill>
              </a:rPr>
              <a:t> </a:t>
            </a:r>
            <a:r>
              <a:rPr kumimoji="1" lang="ko-Kore-KR" altLang="en-US" sz="2400" b="1" dirty="0">
                <a:solidFill>
                  <a:srgbClr val="116589"/>
                </a:solidFill>
              </a:rPr>
              <a:t>전날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80B1018-0DA2-634E-9C2E-3340C0BF8219}"/>
              </a:ext>
            </a:extLst>
          </p:cNvPr>
          <p:cNvSpPr/>
          <p:nvPr/>
        </p:nvSpPr>
        <p:spPr>
          <a:xfrm>
            <a:off x="3121152" y="2624390"/>
            <a:ext cx="8699103" cy="2179258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D0CB9-05CB-E286-C3C7-3DBE22EFAC7A}"/>
              </a:ext>
            </a:extLst>
          </p:cNvPr>
          <p:cNvSpPr txBox="1"/>
          <p:nvPr/>
        </p:nvSpPr>
        <p:spPr>
          <a:xfrm>
            <a:off x="6828408" y="2365528"/>
            <a:ext cx="1478290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 당일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C51E002-C76D-085B-9F6B-1A20A89B4A52}"/>
              </a:ext>
            </a:extLst>
          </p:cNvPr>
          <p:cNvGrpSpPr/>
          <p:nvPr/>
        </p:nvGrpSpPr>
        <p:grpSpPr>
          <a:xfrm>
            <a:off x="3455857" y="3105669"/>
            <a:ext cx="7711480" cy="990030"/>
            <a:chOff x="2055952" y="3004637"/>
            <a:chExt cx="7711480" cy="99003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B01F223-EBA7-9175-EEA1-38DD62FE9217}"/>
                </a:ext>
              </a:extLst>
            </p:cNvPr>
            <p:cNvGrpSpPr/>
            <p:nvPr/>
          </p:nvGrpSpPr>
          <p:grpSpPr>
            <a:xfrm>
              <a:off x="2055952" y="3053189"/>
              <a:ext cx="1027131" cy="934278"/>
              <a:chOff x="2393883" y="2633871"/>
              <a:chExt cx="1027131" cy="934278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49D26B43-F854-95BE-20BF-BF1B9F80C68D}"/>
                  </a:ext>
                </a:extLst>
              </p:cNvPr>
              <p:cNvSpPr/>
              <p:nvPr/>
            </p:nvSpPr>
            <p:spPr>
              <a:xfrm>
                <a:off x="2449323" y="2633871"/>
                <a:ext cx="97169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3BF52E-1253-EA59-AC89-E1CD9BF63F19}"/>
                  </a:ext>
                </a:extLst>
              </p:cNvPr>
              <p:cNvSpPr txBox="1"/>
              <p:nvPr/>
            </p:nvSpPr>
            <p:spPr>
              <a:xfrm>
                <a:off x="2393883" y="2822263"/>
                <a:ext cx="1027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전 준비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51254A7-E547-8FF2-C16B-967F33C06B38}"/>
                </a:ext>
              </a:extLst>
            </p:cNvPr>
            <p:cNvGrpSpPr/>
            <p:nvPr/>
          </p:nvGrpSpPr>
          <p:grpSpPr>
            <a:xfrm>
              <a:off x="4363439" y="3037005"/>
              <a:ext cx="686007" cy="957662"/>
              <a:chOff x="1715038" y="2617687"/>
              <a:chExt cx="686007" cy="957662"/>
            </a:xfrm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76B01DED-9E6E-C48C-93C1-9B1933CDFC01}"/>
                  </a:ext>
                </a:extLst>
              </p:cNvPr>
              <p:cNvSpPr/>
              <p:nvPr/>
            </p:nvSpPr>
            <p:spPr>
              <a:xfrm>
                <a:off x="1746646" y="2617687"/>
                <a:ext cx="638215" cy="932257"/>
              </a:xfrm>
              <a:prstGeom prst="roundRect">
                <a:avLst/>
              </a:prstGeom>
              <a:noFill/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22B8C4-F0E5-270A-D9F4-5ED3A278AFF5}"/>
                  </a:ext>
                </a:extLst>
              </p:cNvPr>
              <p:cNvSpPr txBox="1"/>
              <p:nvPr/>
            </p:nvSpPr>
            <p:spPr>
              <a:xfrm>
                <a:off x="1715038" y="2652019"/>
                <a:ext cx="6860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물 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섭취 과제</a:t>
                </a:r>
                <a:r>
                  <a:rPr kumimoji="1" lang="en-US" altLang="ko-Kore-KR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1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E9533FD-0B44-461D-9CDA-679A3718EF60}"/>
                </a:ext>
              </a:extLst>
            </p:cNvPr>
            <p:cNvGrpSpPr/>
            <p:nvPr/>
          </p:nvGrpSpPr>
          <p:grpSpPr>
            <a:xfrm>
              <a:off x="3185102" y="3037005"/>
              <a:ext cx="1095601" cy="934278"/>
              <a:chOff x="2029867" y="2617687"/>
              <a:chExt cx="1095601" cy="93427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049E294D-D03D-6FA9-7869-A70FBEFE4C7B}"/>
                  </a:ext>
                </a:extLst>
              </p:cNvPr>
              <p:cNvSpPr/>
              <p:nvPr/>
            </p:nvSpPr>
            <p:spPr>
              <a:xfrm>
                <a:off x="2029867" y="2617687"/>
                <a:ext cx="1095601" cy="934278"/>
              </a:xfrm>
              <a:prstGeom prst="round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DFC22D-0EB4-AF27-EA55-E37002ECD79E}"/>
                  </a:ext>
                </a:extLst>
              </p:cNvPr>
              <p:cNvSpPr txBox="1"/>
              <p:nvPr/>
            </p:nvSpPr>
            <p:spPr>
              <a:xfrm>
                <a:off x="2047231" y="2823631"/>
                <a:ext cx="10470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자유 연상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과제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8269BB6-2377-E646-5947-8F29FD7D1AF5}"/>
                </a:ext>
              </a:extLst>
            </p:cNvPr>
            <p:cNvGrpSpPr/>
            <p:nvPr/>
          </p:nvGrpSpPr>
          <p:grpSpPr>
            <a:xfrm>
              <a:off x="8720350" y="3004637"/>
              <a:ext cx="1047082" cy="934278"/>
              <a:chOff x="3079269" y="2585319"/>
              <a:chExt cx="1047082" cy="934278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0A7FD37D-1924-AC90-B14F-42E0B29C03A9}"/>
                  </a:ext>
                </a:extLst>
              </p:cNvPr>
              <p:cNvSpPr/>
              <p:nvPr/>
            </p:nvSpPr>
            <p:spPr>
              <a:xfrm>
                <a:off x="3114518" y="2585319"/>
                <a:ext cx="98472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F4F387-A448-360F-6294-C2DCC2423AD4}"/>
                  </a:ext>
                </a:extLst>
              </p:cNvPr>
              <p:cNvSpPr txBox="1"/>
              <p:nvPr/>
            </p:nvSpPr>
            <p:spPr>
              <a:xfrm>
                <a:off x="3079269" y="2902034"/>
                <a:ext cx="1047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사후 설문</a:t>
                </a: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07E994-9A78-66BD-6565-477B05B632F5}"/>
              </a:ext>
            </a:extLst>
          </p:cNvPr>
          <p:cNvSpPr txBox="1"/>
          <p:nvPr/>
        </p:nvSpPr>
        <p:spPr>
          <a:xfrm>
            <a:off x="6227253" y="4939654"/>
            <a:ext cx="2513830" cy="70788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ore-KR" sz="4000" b="1" dirty="0">
                <a:solidFill>
                  <a:srgbClr val="116589"/>
                </a:solidFill>
              </a:rPr>
              <a:t>X 2</a:t>
            </a:r>
            <a:r>
              <a:rPr kumimoji="1" lang="ko-Kore-KR" altLang="en-US" sz="4000" b="1" dirty="0">
                <a:solidFill>
                  <a:srgbClr val="116589"/>
                </a:solidFill>
              </a:rPr>
              <a:t>번 방문</a:t>
            </a:r>
          </a:p>
        </p:txBody>
      </p:sp>
      <p:cxnSp>
        <p:nvCxnSpPr>
          <p:cNvPr id="52" name="직선 연결선[R] 51">
            <a:extLst>
              <a:ext uri="{FF2B5EF4-FFF2-40B4-BE49-F238E27FC236}">
                <a16:creationId xmlns:a16="http://schemas.microsoft.com/office/drawing/2014/main" id="{D032EB8C-CA4B-F8F3-630D-9FA502775486}"/>
              </a:ext>
            </a:extLst>
          </p:cNvPr>
          <p:cNvCxnSpPr>
            <a:cxnSpLocks/>
          </p:cNvCxnSpPr>
          <p:nvPr/>
        </p:nvCxnSpPr>
        <p:spPr>
          <a:xfrm>
            <a:off x="3547872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FF20C1B0-FF75-957C-BA02-A7AC6957C547}"/>
              </a:ext>
            </a:extLst>
          </p:cNvPr>
          <p:cNvCxnSpPr>
            <a:cxnSpLocks/>
          </p:cNvCxnSpPr>
          <p:nvPr/>
        </p:nvCxnSpPr>
        <p:spPr>
          <a:xfrm>
            <a:off x="3547872" y="4297680"/>
            <a:ext cx="763099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75EC2B15-8308-BFB0-101B-D9EA3117CB45}"/>
              </a:ext>
            </a:extLst>
          </p:cNvPr>
          <p:cNvCxnSpPr>
            <a:cxnSpLocks/>
          </p:cNvCxnSpPr>
          <p:nvPr/>
        </p:nvCxnSpPr>
        <p:spPr>
          <a:xfrm>
            <a:off x="451016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F6D45C81-B34E-06F8-ADA1-01BBD571BE4A}"/>
              </a:ext>
            </a:extLst>
          </p:cNvPr>
          <p:cNvCxnSpPr>
            <a:cxnSpLocks/>
          </p:cNvCxnSpPr>
          <p:nvPr/>
        </p:nvCxnSpPr>
        <p:spPr>
          <a:xfrm>
            <a:off x="5731014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3790D18A-2647-7979-0D3B-594EBC38E844}"/>
              </a:ext>
            </a:extLst>
          </p:cNvPr>
          <p:cNvCxnSpPr>
            <a:cxnSpLocks/>
          </p:cNvCxnSpPr>
          <p:nvPr/>
        </p:nvCxnSpPr>
        <p:spPr>
          <a:xfrm>
            <a:off x="651572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76C7EA6A-4F76-0C76-B3B5-EC67FE45F1C0}"/>
              </a:ext>
            </a:extLst>
          </p:cNvPr>
          <p:cNvCxnSpPr>
            <a:cxnSpLocks/>
          </p:cNvCxnSpPr>
          <p:nvPr/>
        </p:nvCxnSpPr>
        <p:spPr>
          <a:xfrm>
            <a:off x="767183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5F4B122E-E17B-367D-B6C9-09C441268239}"/>
              </a:ext>
            </a:extLst>
          </p:cNvPr>
          <p:cNvCxnSpPr>
            <a:cxnSpLocks/>
          </p:cNvCxnSpPr>
          <p:nvPr/>
        </p:nvCxnSpPr>
        <p:spPr>
          <a:xfrm>
            <a:off x="1118492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C51EA3-AFCA-B7C2-E93E-80811FF69707}"/>
              </a:ext>
            </a:extLst>
          </p:cNvPr>
          <p:cNvSpPr txBox="1"/>
          <p:nvPr/>
        </p:nvSpPr>
        <p:spPr>
          <a:xfrm>
            <a:off x="3732909" y="430776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7FDAF2-320C-0662-E183-1BA63622F6BF}"/>
              </a:ext>
            </a:extLst>
          </p:cNvPr>
          <p:cNvSpPr txBox="1"/>
          <p:nvPr/>
        </p:nvSpPr>
        <p:spPr>
          <a:xfrm>
            <a:off x="4830999" y="430776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0DEB50-04F8-B831-4014-2F533B66DD36}"/>
              </a:ext>
            </a:extLst>
          </p:cNvPr>
          <p:cNvSpPr txBox="1"/>
          <p:nvPr/>
        </p:nvSpPr>
        <p:spPr>
          <a:xfrm>
            <a:off x="5899848" y="43077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D9A22C-8827-4260-F142-D3712D291135}"/>
              </a:ext>
            </a:extLst>
          </p:cNvPr>
          <p:cNvSpPr txBox="1"/>
          <p:nvPr/>
        </p:nvSpPr>
        <p:spPr>
          <a:xfrm>
            <a:off x="6814843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16F5E9-BA77-FC41-66F4-A370189A476B}"/>
              </a:ext>
            </a:extLst>
          </p:cNvPr>
          <p:cNvSpPr txBox="1"/>
          <p:nvPr/>
        </p:nvSpPr>
        <p:spPr>
          <a:xfrm>
            <a:off x="10381423" y="429158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5C4E98D-A9A6-B8D6-1671-F6161BCF506D}"/>
              </a:ext>
            </a:extLst>
          </p:cNvPr>
          <p:cNvGrpSpPr/>
          <p:nvPr/>
        </p:nvGrpSpPr>
        <p:grpSpPr>
          <a:xfrm>
            <a:off x="595396" y="3929107"/>
            <a:ext cx="1955989" cy="934278"/>
            <a:chOff x="2921312" y="2755791"/>
            <a:chExt cx="1508747" cy="934278"/>
          </a:xfrm>
        </p:grpSpPr>
        <p:sp>
          <p:nvSpPr>
            <p:cNvPr id="137" name="모서리가 둥근 직사각형 136">
              <a:extLst>
                <a:ext uri="{FF2B5EF4-FFF2-40B4-BE49-F238E27FC236}">
                  <a16:creationId xmlns:a16="http://schemas.microsoft.com/office/drawing/2014/main" id="{D4E05D81-B48F-DE7F-4B6D-5D2881F1268F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48AAC9E-B804-44E6-07A6-C1D917B5D966}"/>
                </a:ext>
              </a:extLst>
            </p:cNvPr>
            <p:cNvSpPr txBox="1"/>
            <p:nvPr/>
          </p:nvSpPr>
          <p:spPr>
            <a:xfrm>
              <a:off x="2921312" y="3099322"/>
              <a:ext cx="1508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자유 연상 과제</a:t>
              </a:r>
            </a:p>
          </p:txBody>
        </p:sp>
      </p:grp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472612A-6253-F15C-3BC7-3937A66CE20D}"/>
              </a:ext>
            </a:extLst>
          </p:cNvPr>
          <p:cNvSpPr/>
          <p:nvPr/>
        </p:nvSpPr>
        <p:spPr>
          <a:xfrm>
            <a:off x="6550024" y="3112413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86AD-E06D-2784-023D-F47BB893472C}"/>
              </a:ext>
            </a:extLst>
          </p:cNvPr>
          <p:cNvSpPr txBox="1"/>
          <p:nvPr/>
        </p:nvSpPr>
        <p:spPr>
          <a:xfrm>
            <a:off x="6567388" y="331835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14370E8-121F-F508-9003-EFA1518EB302}"/>
              </a:ext>
            </a:extLst>
          </p:cNvPr>
          <p:cNvSpPr/>
          <p:nvPr/>
        </p:nvSpPr>
        <p:spPr>
          <a:xfrm>
            <a:off x="7759969" y="3112412"/>
            <a:ext cx="1061054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E3F38-3AEE-86FB-D822-FD81AF2EC92F}"/>
              </a:ext>
            </a:extLst>
          </p:cNvPr>
          <p:cNvSpPr txBox="1"/>
          <p:nvPr/>
        </p:nvSpPr>
        <p:spPr>
          <a:xfrm>
            <a:off x="7728361" y="3146744"/>
            <a:ext cx="11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AD826-6C91-45DF-A212-61A2EA8773DA}"/>
              </a:ext>
            </a:extLst>
          </p:cNvPr>
          <p:cNvSpPr txBox="1"/>
          <p:nvPr/>
        </p:nvSpPr>
        <p:spPr>
          <a:xfrm>
            <a:off x="8035391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4B627B73-78A9-211D-67C5-7E4804B68436}"/>
              </a:ext>
            </a:extLst>
          </p:cNvPr>
          <p:cNvCxnSpPr>
            <a:cxnSpLocks/>
          </p:cNvCxnSpPr>
          <p:nvPr/>
        </p:nvCxnSpPr>
        <p:spPr>
          <a:xfrm>
            <a:off x="888725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55AAFE4-6CFA-D266-C4CB-1ECEB77FC174}"/>
              </a:ext>
            </a:extLst>
          </p:cNvPr>
          <p:cNvSpPr/>
          <p:nvPr/>
        </p:nvSpPr>
        <p:spPr>
          <a:xfrm>
            <a:off x="8929082" y="3104320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A141D-7EB5-3CAE-41EA-899134A294F3}"/>
              </a:ext>
            </a:extLst>
          </p:cNvPr>
          <p:cNvSpPr txBox="1"/>
          <p:nvPr/>
        </p:nvSpPr>
        <p:spPr>
          <a:xfrm>
            <a:off x="8946446" y="331026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0900C-0272-49AE-1207-47004F594BD0}"/>
              </a:ext>
            </a:extLst>
          </p:cNvPr>
          <p:cNvSpPr txBox="1"/>
          <p:nvPr/>
        </p:nvSpPr>
        <p:spPr>
          <a:xfrm>
            <a:off x="9231717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0FD1CD4-6435-E363-6E8E-669CAED1B724}"/>
              </a:ext>
            </a:extLst>
          </p:cNvPr>
          <p:cNvCxnSpPr>
            <a:cxnSpLocks/>
          </p:cNvCxnSpPr>
          <p:nvPr/>
        </p:nvCxnSpPr>
        <p:spPr>
          <a:xfrm>
            <a:off x="1019134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759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2FA4-5CA8-8E88-109C-5E4C8D0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9BA9C5-DE03-151E-0339-88609E3E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7152E9-7193-C1A4-A30F-C25DE2D4A8D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E4FD9-1CFC-DA18-A07D-AA45563C469D}"/>
              </a:ext>
            </a:extLst>
          </p:cNvPr>
          <p:cNvGrpSpPr/>
          <p:nvPr/>
        </p:nvGrpSpPr>
        <p:grpSpPr>
          <a:xfrm>
            <a:off x="1449818" y="3866654"/>
            <a:ext cx="5493148" cy="2251022"/>
            <a:chOff x="1449818" y="3866654"/>
            <a:chExt cx="5493148" cy="2251022"/>
          </a:xfrm>
        </p:grpSpPr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8AE08AB6-B4D6-517F-1C3D-2D70834B9C9A}"/>
                </a:ext>
              </a:extLst>
            </p:cNvPr>
            <p:cNvSpPr/>
            <p:nvPr/>
          </p:nvSpPr>
          <p:spPr>
            <a:xfrm>
              <a:off x="1449818" y="3866654"/>
              <a:ext cx="5493148" cy="2251022"/>
            </a:xfrm>
            <a:prstGeom prst="roundRect">
              <a:avLst/>
            </a:prstGeom>
            <a:solidFill>
              <a:srgbClr val="D1D1D1">
                <a:alpha val="40000"/>
              </a:srgb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917DAE8-CEB4-C8E1-03E5-FC6FB353B4E8}"/>
                </a:ext>
              </a:extLst>
            </p:cNvPr>
            <p:cNvGrpSpPr/>
            <p:nvPr/>
          </p:nvGrpSpPr>
          <p:grpSpPr>
            <a:xfrm>
              <a:off x="4581578" y="4513412"/>
              <a:ext cx="1766065" cy="934278"/>
              <a:chOff x="2672844" y="2615412"/>
              <a:chExt cx="1302027" cy="934278"/>
            </a:xfrm>
            <a:solidFill>
              <a:schemeClr val="bg1"/>
            </a:solidFill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1B4B6693-52D7-DE7B-2404-8402C9C4E603}"/>
                  </a:ext>
                </a:extLst>
              </p:cNvPr>
              <p:cNvSpPr/>
              <p:nvPr/>
            </p:nvSpPr>
            <p:spPr>
              <a:xfrm>
                <a:off x="2672844" y="2615412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D8F8D2-4768-E8AC-7530-9C900FC23738}"/>
                  </a:ext>
                </a:extLst>
              </p:cNvPr>
              <p:cNvSpPr txBox="1"/>
              <p:nvPr/>
            </p:nvSpPr>
            <p:spPr>
              <a:xfrm>
                <a:off x="2841995" y="2782299"/>
                <a:ext cx="96459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설명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및 서류 작성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ED30A01-E08C-A9C5-67D4-479FE5DC0974}"/>
                </a:ext>
              </a:extLst>
            </p:cNvPr>
            <p:cNvGrpSpPr/>
            <p:nvPr/>
          </p:nvGrpSpPr>
          <p:grpSpPr>
            <a:xfrm>
              <a:off x="2046657" y="4504945"/>
              <a:ext cx="1766065" cy="934278"/>
              <a:chOff x="3041373" y="2633871"/>
              <a:chExt cx="1302027" cy="934278"/>
            </a:xfrm>
            <a:solidFill>
              <a:schemeClr val="bg1"/>
            </a:solidFill>
          </p:grpSpPr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80FF9949-4640-687C-675C-B2D94AFB36C7}"/>
                  </a:ext>
                </a:extLst>
              </p:cNvPr>
              <p:cNvSpPr/>
              <p:nvPr/>
            </p:nvSpPr>
            <p:spPr>
              <a:xfrm>
                <a:off x="3041373" y="2633871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BDF89A-C394-D5C6-04C8-21420C37162B}"/>
                  </a:ext>
                </a:extLst>
              </p:cNvPr>
              <p:cNvSpPr txBox="1"/>
              <p:nvPr/>
            </p:nvSpPr>
            <p:spPr>
              <a:xfrm>
                <a:off x="3214458" y="2951222"/>
                <a:ext cx="919685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컨디션 확인</a:t>
                </a:r>
              </a:p>
            </p:txBody>
          </p:sp>
        </p:grpSp>
        <p:pic>
          <p:nvPicPr>
            <p:cNvPr id="47" name="그래픽 46" descr="위쪽 캐럿 단색으로 채워진">
              <a:extLst>
                <a:ext uri="{FF2B5EF4-FFF2-40B4-BE49-F238E27FC236}">
                  <a16:creationId xmlns:a16="http://schemas.microsoft.com/office/drawing/2014/main" id="{6AF09693-D76B-4580-D2A3-86F115E1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794552" y="4672986"/>
              <a:ext cx="640080" cy="640080"/>
            </a:xfrm>
            <a:prstGeom prst="rect">
              <a:avLst/>
            </a:prstGeom>
          </p:spPr>
        </p:pic>
      </p:grpSp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D803E2AB-1693-D0D7-FCF9-8803356FF6E2}"/>
              </a:ext>
            </a:extLst>
          </p:cNvPr>
          <p:cNvCxnSpPr>
            <a:cxnSpLocks/>
          </p:cNvCxnSpPr>
          <p:nvPr/>
        </p:nvCxnSpPr>
        <p:spPr>
          <a:xfrm flipH="1">
            <a:off x="1557867" y="2775568"/>
            <a:ext cx="1112505" cy="114449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71B228EE-CBFA-DD25-C8C8-83C55C160E25}"/>
              </a:ext>
            </a:extLst>
          </p:cNvPr>
          <p:cNvCxnSpPr>
            <a:cxnSpLocks/>
          </p:cNvCxnSpPr>
          <p:nvPr/>
        </p:nvCxnSpPr>
        <p:spPr>
          <a:xfrm>
            <a:off x="3463391" y="2775568"/>
            <a:ext cx="3172078" cy="109242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6D3FCA03-60C8-A74E-D3F3-77952E206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721" y="1745051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730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AE2A-72FD-AF8E-C2A5-B616AC2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92D4446F-C9B5-F17B-EA92-B5BED82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4B139F10-987B-6133-4101-B0EDC7976F1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BD2F7A-796D-28F8-F2C3-F9E117763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45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DF94-84FA-F786-9DD2-B795C580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73DD49-1949-02D3-0460-D521703A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809" y="2224668"/>
            <a:ext cx="6069980" cy="455248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7865E2-824A-01B7-FF7D-295B7C97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27CEBD-F052-1569-D81B-802029109347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3" name="그래픽 2" descr="생각 윤곽선">
            <a:extLst>
              <a:ext uri="{FF2B5EF4-FFF2-40B4-BE49-F238E27FC236}">
                <a16:creationId xmlns:a16="http://schemas.microsoft.com/office/drawing/2014/main" id="{5650476C-F9B0-2710-7D4D-2B5CA30B2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52" y="2889503"/>
            <a:ext cx="2133537" cy="2133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DD237-0BDB-B727-0DB2-9C067B9A77B5}"/>
              </a:ext>
            </a:extLst>
          </p:cNvPr>
          <p:cNvSpPr txBox="1"/>
          <p:nvPr/>
        </p:nvSpPr>
        <p:spPr>
          <a:xfrm>
            <a:off x="865632" y="2133600"/>
            <a:ext cx="342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“</a:t>
            </a:r>
            <a:r>
              <a:rPr kumimoji="1" lang="ko-Kore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떠오르는 생각을 말해보세요</a:t>
            </a:r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ABEFE418-3D8D-B8BE-AD20-8197C56C0E09}"/>
              </a:ext>
            </a:extLst>
          </p:cNvPr>
          <p:cNvSpPr/>
          <p:nvPr/>
        </p:nvSpPr>
        <p:spPr>
          <a:xfrm>
            <a:off x="2889504" y="2657856"/>
            <a:ext cx="2462784" cy="687515"/>
          </a:xfrm>
          <a:custGeom>
            <a:avLst/>
            <a:gdLst>
              <a:gd name="csX0" fmla="*/ 0 w 1780032"/>
              <a:gd name="csY0" fmla="*/ 996425 h 996425"/>
              <a:gd name="csX1" fmla="*/ 560832 w 1780032"/>
              <a:gd name="csY1" fmla="*/ 142985 h 996425"/>
              <a:gd name="csX2" fmla="*/ 1780032 w 1780032"/>
              <a:gd name="csY2" fmla="*/ 8873 h 996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0032" h="996425">
                <a:moveTo>
                  <a:pt x="0" y="996425"/>
                </a:moveTo>
                <a:cubicBezTo>
                  <a:pt x="132080" y="652001"/>
                  <a:pt x="264160" y="307577"/>
                  <a:pt x="560832" y="142985"/>
                </a:cubicBezTo>
                <a:cubicBezTo>
                  <a:pt x="857504" y="-21607"/>
                  <a:pt x="1318768" y="-6367"/>
                  <a:pt x="1780032" y="8873"/>
                </a:cubicBezTo>
              </a:path>
            </a:pathLst>
          </a:custGeom>
          <a:noFill/>
          <a:ln w="38100"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292D1-DFAA-1473-710C-94AACE094C03}"/>
              </a:ext>
            </a:extLst>
          </p:cNvPr>
          <p:cNvSpPr txBox="1"/>
          <p:nvPr/>
        </p:nvSpPr>
        <p:spPr>
          <a:xfrm>
            <a:off x="2018371" y="3303278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엄마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33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5AB-8863-1F00-EF2F-DDCF3C1A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2CF6085-F5E4-2178-00FB-70ACDE849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F48E2F-1FD6-3930-1BFB-E3FADB30D3E4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124265" cy="65017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D3C521A-55C1-6B48-2980-A4DC30AEA0FD}"/>
              </a:ext>
            </a:extLst>
          </p:cNvPr>
          <p:cNvCxnSpPr>
            <a:cxnSpLocks/>
          </p:cNvCxnSpPr>
          <p:nvPr/>
        </p:nvCxnSpPr>
        <p:spPr>
          <a:xfrm>
            <a:off x="4531540" y="2840304"/>
            <a:ext cx="4612460" cy="568818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88ECCA3D-2406-3BD1-CD62-5741DF39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562ACE1D-F71A-C32A-81B1-05C37C07136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FF0F301-7057-341B-1568-59AC0EE56035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모서리가 둥근 직사각형 70">
            <a:extLst>
              <a:ext uri="{FF2B5EF4-FFF2-40B4-BE49-F238E27FC236}">
                <a16:creationId xmlns:a16="http://schemas.microsoft.com/office/drawing/2014/main" id="{1C608DCE-9E1C-61D3-BF67-2E4F8E9D70E4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3C11FC12-8B69-41B8-932E-83462F4C68FB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59F83B-1AF9-B2A9-6583-0C52049A103E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6EB6400F-6BD0-BB57-84F6-E8119E358804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21375C5-463B-BF62-BA01-98408D1841A5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6" name="모서리가 둥근 직사각형 70">
                <a:extLst>
                  <a:ext uri="{FF2B5EF4-FFF2-40B4-BE49-F238E27FC236}">
                    <a16:creationId xmlns:a16="http://schemas.microsoft.com/office/drawing/2014/main" id="{20CDD8A4-9F3F-3BD9-C3CF-BE543E7D507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7" name="모서리가 둥근 직사각형 74">
                <a:extLst>
                  <a:ext uri="{FF2B5EF4-FFF2-40B4-BE49-F238E27FC236}">
                    <a16:creationId xmlns:a16="http://schemas.microsoft.com/office/drawing/2014/main" id="{63AA00C6-318B-A946-96A8-F06558510B2C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4" name="텍스트 상자 127">
              <a:extLst>
                <a:ext uri="{FF2B5EF4-FFF2-40B4-BE49-F238E27FC236}">
                  <a16:creationId xmlns:a16="http://schemas.microsoft.com/office/drawing/2014/main" id="{350E45AF-3AE2-0B96-EB94-0F06D88EE5D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5" name="오른쪽으로 구부러진 화살표[C] 14">
              <a:extLst>
                <a:ext uri="{FF2B5EF4-FFF2-40B4-BE49-F238E27FC236}">
                  <a16:creationId xmlns:a16="http://schemas.microsoft.com/office/drawing/2014/main" id="{024BC3B1-F419-1C35-C6B2-E713BBA66F0E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8" name="그래픽 17" descr="위쪽 캐럿 단색으로 채워진">
            <a:extLst>
              <a:ext uri="{FF2B5EF4-FFF2-40B4-BE49-F238E27FC236}">
                <a16:creationId xmlns:a16="http://schemas.microsoft.com/office/drawing/2014/main" id="{BB806FBC-E6F2-058D-E23B-3535AB5A2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19" name="그래픽 18" descr="위쪽 캐럿 단색으로 채워진">
            <a:extLst>
              <a:ext uri="{FF2B5EF4-FFF2-40B4-BE49-F238E27FC236}">
                <a16:creationId xmlns:a16="http://schemas.microsoft.com/office/drawing/2014/main" id="{89177E64-5380-ADD2-28A4-BA9DF087D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0" name="모서리가 둥근 직사각형 74">
            <a:extLst>
              <a:ext uri="{FF2B5EF4-FFF2-40B4-BE49-F238E27FC236}">
                <a16:creationId xmlns:a16="http://schemas.microsoft.com/office/drawing/2014/main" id="{DA17C5AA-FAF6-6EC5-C30E-30FFBCA1BC1B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1" name="모서리가 둥근 직사각형 74">
            <a:extLst>
              <a:ext uri="{FF2B5EF4-FFF2-40B4-BE49-F238E27FC236}">
                <a16:creationId xmlns:a16="http://schemas.microsoft.com/office/drawing/2014/main" id="{0FCF1F5E-5FFD-1721-4862-1B8BECEB2B25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52EBC403-1E0F-DC04-E674-9EBF67E53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794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AEAF-E72C-13E6-85E4-5C0B2C04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00F8C115-A820-96D3-C374-0D0E774A3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2AA93C-B151-A54D-08F3-20A737E084F2}"/>
              </a:ext>
            </a:extLst>
          </p:cNvPr>
          <p:cNvCxnSpPr>
            <a:cxnSpLocks/>
          </p:cNvCxnSpPr>
          <p:nvPr/>
        </p:nvCxnSpPr>
        <p:spPr>
          <a:xfrm flipH="1">
            <a:off x="2395330" y="2840304"/>
            <a:ext cx="1213718" cy="67814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FE257E9-2A2A-BB3C-7EF4-DB0986F33092}"/>
              </a:ext>
            </a:extLst>
          </p:cNvPr>
          <p:cNvCxnSpPr>
            <a:cxnSpLocks/>
          </p:cNvCxnSpPr>
          <p:nvPr/>
        </p:nvCxnSpPr>
        <p:spPr>
          <a:xfrm>
            <a:off x="4555816" y="2848396"/>
            <a:ext cx="4598123" cy="57066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D0EEBC33-9F37-91CA-0BB3-0637D9B8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F0A5095-AC41-1B48-4854-B225EEB1CD6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23421D3-B0E1-B2E0-AF91-CCB67475D13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CC41268A-C71B-D714-A5B9-DDD13EBBF2D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81E6822B-2D36-EC2C-88C6-04AB3CCBCFD8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DB2370-4FE5-DDFC-4F82-59BFE9A415C9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1169CB7B-B4D2-96A5-FCE6-5194181B0F09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B50444F-F45D-2022-FCCB-1B22EBEE038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A29C2432-549C-9E8D-D97E-C5DED4CC4170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2D922DA9-7431-A3CF-A017-865EFC2CFAFB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4C2808A6-C5C8-8D6A-5449-C3ACE0BAA53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908D19B-5187-8C73-4CE3-E7552BAD899C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DB854948-4876-1463-4685-40D33EA2B0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37CBC0F5-9B35-3D2B-D471-F4EB2A989E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13EE49AE-3A6C-D265-1AF9-E1BD2E7F0801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223F21FB-E67E-4E93-896D-A6DFCB31A2E3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A9CD2787-EED5-92D3-947D-B921F06E5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68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C052-25B3-C5C4-F50B-2FBF0339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879C74-1D2D-4222-9C2B-CF8FA2162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23A6C0-0590-F7A5-381A-926DE461EF2F}"/>
              </a:ext>
            </a:extLst>
          </p:cNvPr>
          <p:cNvCxnSpPr>
            <a:cxnSpLocks/>
          </p:cNvCxnSpPr>
          <p:nvPr/>
        </p:nvCxnSpPr>
        <p:spPr>
          <a:xfrm flipH="1">
            <a:off x="2425148" y="2848396"/>
            <a:ext cx="1119164" cy="67999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4C020D-5C90-9EB4-79B6-D00D9E409084}"/>
              </a:ext>
            </a:extLst>
          </p:cNvPr>
          <p:cNvCxnSpPr>
            <a:cxnSpLocks/>
          </p:cNvCxnSpPr>
          <p:nvPr/>
        </p:nvCxnSpPr>
        <p:spPr>
          <a:xfrm>
            <a:off x="4434435" y="2856488"/>
            <a:ext cx="4689687" cy="54269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A3CCE1D9-6612-6B26-B140-724C067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085F652-9E26-27CE-108F-81D680AAB0E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C03E2D0-351A-573A-B0A9-012A722659CF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모서리가 둥근 직사각형 70">
            <a:extLst>
              <a:ext uri="{FF2B5EF4-FFF2-40B4-BE49-F238E27FC236}">
                <a16:creationId xmlns:a16="http://schemas.microsoft.com/office/drawing/2014/main" id="{192390F3-274E-2067-A71D-273D0D389F4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6" name="모서리가 둥근 직사각형 70">
            <a:extLst>
              <a:ext uri="{FF2B5EF4-FFF2-40B4-BE49-F238E27FC236}">
                <a16:creationId xmlns:a16="http://schemas.microsoft.com/office/drawing/2014/main" id="{4191BD25-8D5A-090D-A782-5D3D65089E0F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E4F1B7-B48D-5C62-7249-DBCE00193A74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D5B629D4-AA07-9A73-8359-568B7BE95BF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92A348-046F-AE38-9617-C8589AC789C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3" name="모서리가 둥근 직사각형 70">
                <a:extLst>
                  <a:ext uri="{FF2B5EF4-FFF2-40B4-BE49-F238E27FC236}">
                    <a16:creationId xmlns:a16="http://schemas.microsoft.com/office/drawing/2014/main" id="{AD1BBAE4-ECDD-F92E-FCDB-C34A721F352C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4" name="모서리가 둥근 직사각형 74">
                <a:extLst>
                  <a:ext uri="{FF2B5EF4-FFF2-40B4-BE49-F238E27FC236}">
                    <a16:creationId xmlns:a16="http://schemas.microsoft.com/office/drawing/2014/main" id="{BD63231C-18E0-E298-F626-F4C40E225579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1" name="텍스트 상자 127">
              <a:extLst>
                <a:ext uri="{FF2B5EF4-FFF2-40B4-BE49-F238E27FC236}">
                  <a16:creationId xmlns:a16="http://schemas.microsoft.com/office/drawing/2014/main" id="{64058D98-7B19-39DE-80E0-D949F2C49B85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2" name="오른쪽으로 구부러진 화살표[C] 31">
              <a:extLst>
                <a:ext uri="{FF2B5EF4-FFF2-40B4-BE49-F238E27FC236}">
                  <a16:creationId xmlns:a16="http://schemas.microsoft.com/office/drawing/2014/main" id="{31C2411D-5ED9-60E1-6DFB-28E295855372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5" name="그래픽 34" descr="위쪽 캐럿 단색으로 채워진">
            <a:extLst>
              <a:ext uri="{FF2B5EF4-FFF2-40B4-BE49-F238E27FC236}">
                <a16:creationId xmlns:a16="http://schemas.microsoft.com/office/drawing/2014/main" id="{C138959D-72CF-D2AC-F206-DD59263E9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12401967-1063-F928-FA0F-65243D477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7" name="모서리가 둥근 직사각형 74">
            <a:extLst>
              <a:ext uri="{FF2B5EF4-FFF2-40B4-BE49-F238E27FC236}">
                <a16:creationId xmlns:a16="http://schemas.microsoft.com/office/drawing/2014/main" id="{CC2B6725-B0C9-2536-E97F-19BEC8A3DB5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05FD3C29-A451-CF1C-F433-17C8659FF6C2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39" name="그래픽 38" descr="위쪽 캐럿 단색으로 채워진">
            <a:extLst>
              <a:ext uri="{FF2B5EF4-FFF2-40B4-BE49-F238E27FC236}">
                <a16:creationId xmlns:a16="http://schemas.microsoft.com/office/drawing/2014/main" id="{9043DFD9-990F-A567-1D39-986869297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52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1D34-AC38-862A-15AD-4972E836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6916D3-44D9-F484-B81B-7AA77B14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6C270B-BB1B-63CE-2791-EDF6702EBFE2}"/>
              </a:ext>
            </a:extLst>
          </p:cNvPr>
          <p:cNvSpPr/>
          <p:nvPr/>
        </p:nvSpPr>
        <p:spPr>
          <a:xfrm>
            <a:off x="670207" y="3210339"/>
            <a:ext cx="11095138" cy="3434566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8E706-9AE8-7AA4-482E-BEC24A43950D}"/>
              </a:ext>
            </a:extLst>
          </p:cNvPr>
          <p:cNvSpPr txBox="1"/>
          <p:nvPr/>
        </p:nvSpPr>
        <p:spPr>
          <a:xfrm>
            <a:off x="831933" y="3319201"/>
            <a:ext cx="11045328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단어를 적으실 때 명사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형용사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동사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간단한 단어의 모음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개인적인 경험을 담은 단어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 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실험자가 모르는 이름을 말씀하셔도 좋으니 이후 참가자님께서 단어들이나 구를 보면 기억하실 수 있도록 최대한 구체적으로 말씀해주세요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지명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 등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다음 단어가 떠오르지 않을 경우 전에 말한 단어를 반복하여 적을 수 있습니다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본 실험을 진행하는 연구원들을 제외한 다른 사람들은 여러분이 무슨 단어를 적었는지 알 수 없습니다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     </a:t>
            </a: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또한 여러분이 작성한 단어로 여러분을 평가하지 않습니다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F036F8-611A-3C60-5E93-E87C87D6A56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702682-2B26-4D7F-E5C2-26B0ACA34021}"/>
              </a:ext>
            </a:extLst>
          </p:cNvPr>
          <p:cNvGrpSpPr/>
          <p:nvPr/>
        </p:nvGrpSpPr>
        <p:grpSpPr>
          <a:xfrm>
            <a:off x="1011936" y="2848396"/>
            <a:ext cx="10338551" cy="361943"/>
            <a:chOff x="1042416" y="2994700"/>
            <a:chExt cx="10424160" cy="509167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FFD1FA5E-E2B4-5490-FDBF-5DD1FF94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416" y="2994700"/>
              <a:ext cx="2548560" cy="509167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A760C6C5-79DD-1356-6315-F504BC0CB075}"/>
                </a:ext>
              </a:extLst>
            </p:cNvPr>
            <p:cNvCxnSpPr>
              <a:cxnSpLocks/>
            </p:cNvCxnSpPr>
            <p:nvPr/>
          </p:nvCxnSpPr>
          <p:spPr>
            <a:xfrm>
              <a:off x="4521560" y="2994700"/>
              <a:ext cx="6945016" cy="509167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E9598B9-E187-154C-70D9-816E81EDF8D4}"/>
              </a:ext>
            </a:extLst>
          </p:cNvPr>
          <p:cNvSpPr txBox="1">
            <a:spLocks/>
          </p:cNvSpPr>
          <p:nvPr/>
        </p:nvSpPr>
        <p:spPr>
          <a:xfrm>
            <a:off x="743931" y="2690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1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8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원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95A82-031D-325A-0E2D-F05D60AF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B0E0C-23E9-B887-9F74-8A2B20886542}"/>
              </a:ext>
            </a:extLst>
          </p:cNvPr>
          <p:cNvSpPr txBox="1"/>
          <p:nvPr/>
        </p:nvSpPr>
        <p:spPr>
          <a:xfrm>
            <a:off x="6096000" y="2868967"/>
            <a:ext cx="529519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바로 직전에 적었던 단어가 화면에 표시됩니다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화면에 표시된 단어에서 연상되는 단어를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 입력합니다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005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F567-1DA0-11FA-D85D-3C5864C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0B0CDF-D9B4-E352-73E4-FAF18AC1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8B2D9F-3A9F-243E-B410-81213E8DFF28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067621" cy="6303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BC86109-57C6-6EB7-06BB-36338B87AC8B}"/>
              </a:ext>
            </a:extLst>
          </p:cNvPr>
          <p:cNvCxnSpPr>
            <a:cxnSpLocks/>
          </p:cNvCxnSpPr>
          <p:nvPr/>
        </p:nvCxnSpPr>
        <p:spPr>
          <a:xfrm>
            <a:off x="4507264" y="2856488"/>
            <a:ext cx="4626797" cy="53275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23D9F98-0430-D84F-71DE-0915F3DB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D215327B-AC11-0019-9131-5B8DF648D25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D2CC88B-EC5D-7798-2864-6FAC757135D7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ABD681E2-DA83-820C-5F21-21451851A4B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39900E99-ADA7-5EB1-4830-4F69B06B0C66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BA80597-AC6D-9774-8620-DECB4BBCB5A3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6BEBC411-8C7A-78B1-DF92-A81D327999D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EBE0A2D-B238-B56C-8728-50C7AEF66D81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C905114F-5BF0-3485-8ED7-8AF37B3E7A78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C605913D-4A61-F8B4-8F31-F0AA2E2A7F03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A9B35B61-1E4B-5037-816C-9A1B19DC72E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0896B63-4242-3F63-4F63-DD8C350D42A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B386B4C2-7CD0-6BF1-31EF-3D6EF4F51E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A70D9425-B0AB-8519-82D3-B384322B2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2C05FDAC-856F-6038-C9D4-77E7A295ED7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84EEE396-E399-CFDD-3523-12FBB2C2B52B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B0348E66-F471-1DA7-DF24-D428B5AA5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54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FFC8-82DF-04DA-29F0-DDF6D3B6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1A80861-C775-0044-3104-409AD7445A10}"/>
              </a:ext>
            </a:extLst>
          </p:cNvPr>
          <p:cNvSpPr/>
          <p:nvPr/>
        </p:nvSpPr>
        <p:spPr>
          <a:xfrm>
            <a:off x="670207" y="3682651"/>
            <a:ext cx="11095138" cy="2329841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48B8D-A6F5-67DD-7A26-1531328AECF9}"/>
              </a:ext>
            </a:extLst>
          </p:cNvPr>
          <p:cNvSpPr txBox="1"/>
          <p:nvPr/>
        </p:nvSpPr>
        <p:spPr>
          <a:xfrm>
            <a:off x="1330933" y="4299907"/>
            <a:ext cx="9967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하실 때에는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단어와 전 단어 사이의 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‘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맥락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’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고려하여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본인이 그 단어를 떠올렸을 당시에 느꼈던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개인적인 감정 혹은 생각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따라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123B9-C8FE-6049-66D3-617A1E6B409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6124C7-9D73-36AF-D52C-FC214471C4AA}"/>
              </a:ext>
            </a:extLst>
          </p:cNvPr>
          <p:cNvGrpSpPr/>
          <p:nvPr/>
        </p:nvGrpSpPr>
        <p:grpSpPr>
          <a:xfrm>
            <a:off x="864296" y="2832212"/>
            <a:ext cx="10559441" cy="900544"/>
            <a:chOff x="894776" y="2978516"/>
            <a:chExt cx="10559441" cy="900544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42BF2221-57EE-ADB9-5A06-3BE20E713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76" y="2978516"/>
              <a:ext cx="2663831" cy="900544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8169DD21-9876-9EFC-BFE3-4BDD675D0163}"/>
                </a:ext>
              </a:extLst>
            </p:cNvPr>
            <p:cNvCxnSpPr>
              <a:cxnSpLocks/>
            </p:cNvCxnSpPr>
            <p:nvPr/>
          </p:nvCxnSpPr>
          <p:spPr>
            <a:xfrm>
              <a:off x="4497284" y="2994700"/>
              <a:ext cx="6956933" cy="834256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DE5FDB6A-BFF4-42F0-7115-400EFF59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89BFD7-05BD-6355-0D87-818CB7078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444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C122EF-880E-614B-BCEA-D673F069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22CC06-94CC-492E-80EA-28E048318874}"/>
              </a:ext>
            </a:extLst>
          </p:cNvPr>
          <p:cNvSpPr txBox="1"/>
          <p:nvPr/>
        </p:nvSpPr>
        <p:spPr>
          <a:xfrm>
            <a:off x="5613593" y="2113834"/>
            <a:ext cx="611176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단어에서 느껴지는 감정의 긍정적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/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부정적인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b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단어에서 느껴지는 감정이 매우 부정적이면 그래프의 가장 왼쪽에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중립적이라면 가운데에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긍정적이라면 가장 오른쪽에 점을 찍으면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5499ED-B6F1-5875-5C0F-70328D5478A2}"/>
              </a:ext>
            </a:extLst>
          </p:cNvPr>
          <p:cNvSpPr/>
          <p:nvPr/>
        </p:nvSpPr>
        <p:spPr>
          <a:xfrm>
            <a:off x="109330" y="1441129"/>
            <a:ext cx="5101497" cy="16509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098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31"/>
    </mc:Choice>
    <mc:Fallback xmlns="">
      <p:transition spd="slow" advTm="1863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B8FD-F39B-5F0E-9BF2-72278DAC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B61907-6F89-277F-BEB0-6519DB9486C3}"/>
              </a:ext>
            </a:extLst>
          </p:cNvPr>
          <p:cNvSpPr txBox="1"/>
          <p:nvPr/>
        </p:nvSpPr>
        <p:spPr>
          <a:xfrm>
            <a:off x="5624608" y="1595002"/>
            <a:ext cx="638186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자신과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자기와 관련이 있다는 말의 의미는 이 단어를 가지고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나를 얼마나 잘 설명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할 수 있는지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단어를 볼 때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나에게 얼마나 중요한지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등으로 바꾸어 생각해 볼 수 있습니다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자기와 관련이 전혀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7C906C-457F-2101-9825-9FF40E971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24F9D1-734C-EBC7-8411-04DF1F5906FD}"/>
              </a:ext>
            </a:extLst>
          </p:cNvPr>
          <p:cNvSpPr/>
          <p:nvPr/>
        </p:nvSpPr>
        <p:spPr>
          <a:xfrm>
            <a:off x="89452" y="2971801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0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5B819E-2EBA-DC82-6E27-B8862267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611EF-7896-4DBB-8881-52B97093FF5F}"/>
              </a:ext>
            </a:extLst>
          </p:cNvPr>
          <p:cNvSpPr txBox="1"/>
          <p:nvPr/>
        </p:nvSpPr>
        <p:spPr>
          <a:xfrm>
            <a:off x="5624608" y="1595002"/>
            <a:ext cx="6381862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내 몸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 관련이 있다는 말은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내 몸의 상태나 경험과 연결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되는지를 기준으로 생각해 보시면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신체와 전혀 관련이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516E4B-6100-6E0E-988D-AC6F2D9E2FF2}"/>
              </a:ext>
            </a:extLst>
          </p:cNvPr>
          <p:cNvSpPr/>
          <p:nvPr/>
        </p:nvSpPr>
        <p:spPr>
          <a:xfrm>
            <a:off x="89452" y="4373219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8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7C0A-18FC-21B3-6136-F3A4B69F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9A00370-4A8A-B8C5-140F-4ED0F2259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F7344E3-79AF-AAA3-94E7-BDD0BBEA6B40}"/>
              </a:ext>
            </a:extLst>
          </p:cNvPr>
          <p:cNvCxnSpPr>
            <a:cxnSpLocks/>
          </p:cNvCxnSpPr>
          <p:nvPr/>
        </p:nvCxnSpPr>
        <p:spPr>
          <a:xfrm flipH="1">
            <a:off x="2623930" y="2812774"/>
            <a:ext cx="924340" cy="62616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A4C9BC-2E3D-36C2-51E5-E823BE0F0432}"/>
              </a:ext>
            </a:extLst>
          </p:cNvPr>
          <p:cNvCxnSpPr>
            <a:cxnSpLocks/>
          </p:cNvCxnSpPr>
          <p:nvPr/>
        </p:nvCxnSpPr>
        <p:spPr>
          <a:xfrm>
            <a:off x="4492487" y="2842591"/>
            <a:ext cx="4691270" cy="57647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69B38CA7-4EF0-D3B6-A093-7FB53C84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0D5CA75B-1A25-70C2-6097-294F6482C4E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FC04876-63BF-D6B8-B5EC-709AE84DA27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5427151E-738F-51D4-B419-BA3DD2E8F04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CF9A6DD1-6BC7-204A-9BE0-D2E7B0FF8B65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EADD66-A379-D973-E9FA-8E3B38A3A72A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4457F5C6-DCDE-6B1D-AC0B-C2460166FCEB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AFC27C8-E3F5-F529-AE63-4069122803D6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7" name="모서리가 둥근 직사각형 70">
                <a:extLst>
                  <a:ext uri="{FF2B5EF4-FFF2-40B4-BE49-F238E27FC236}">
                    <a16:creationId xmlns:a16="http://schemas.microsoft.com/office/drawing/2014/main" id="{C63AB8F5-529E-5901-41D7-0FE8506E374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9" name="모서리가 둥근 직사각형 74">
                <a:extLst>
                  <a:ext uri="{FF2B5EF4-FFF2-40B4-BE49-F238E27FC236}">
                    <a16:creationId xmlns:a16="http://schemas.microsoft.com/office/drawing/2014/main" id="{6FD41A4D-E5B7-E5D8-841A-045B3A712A71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5" name="텍스트 상자 127">
              <a:extLst>
                <a:ext uri="{FF2B5EF4-FFF2-40B4-BE49-F238E27FC236}">
                  <a16:creationId xmlns:a16="http://schemas.microsoft.com/office/drawing/2014/main" id="{883EA505-5BBC-2EEE-D42C-52D11F8759D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6" name="오른쪽으로 구부러진 화살표[C] 15">
              <a:extLst>
                <a:ext uri="{FF2B5EF4-FFF2-40B4-BE49-F238E27FC236}">
                  <a16:creationId xmlns:a16="http://schemas.microsoft.com/office/drawing/2014/main" id="{30339D23-1014-65DD-C3D4-ADEE34D3244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3AA17DA-17C2-A13E-5F73-D72BA7249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23" name="그래픽 22" descr="위쪽 캐럿 단색으로 채워진">
            <a:extLst>
              <a:ext uri="{FF2B5EF4-FFF2-40B4-BE49-F238E27FC236}">
                <a16:creationId xmlns:a16="http://schemas.microsoft.com/office/drawing/2014/main" id="{48C09501-0667-0587-072C-7B7C61A26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AB2DD4B9-9A73-0EA1-53B7-0F0AF6A73468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2142B4FF-707A-FC47-DE60-C6F4F428BE49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8014ADF6-EDC9-B088-4261-E20BD5FE1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93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15BB4E-3C47-A655-090F-D99A360E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EB32B1-C6E1-C799-4D0A-424F4B9E4454}"/>
              </a:ext>
            </a:extLst>
          </p:cNvPr>
          <p:cNvSpPr txBox="1"/>
          <p:nvPr/>
        </p:nvSpPr>
        <p:spPr>
          <a:xfrm>
            <a:off x="5954093" y="2868967"/>
            <a:ext cx="6059487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입력한 단어 전체를 확인하고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있었던 경우 기록합니다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없으면 비워두고 넘어갑니다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77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466943-1173-4662-0E83-BEEE102C7286}"/>
              </a:ext>
            </a:extLst>
          </p:cNvPr>
          <p:cNvSpPr txBox="1"/>
          <p:nvPr/>
        </p:nvSpPr>
        <p:spPr>
          <a:xfrm>
            <a:off x="3883614" y="2733259"/>
            <a:ext cx="483978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5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CE82-CC1E-55A9-15A9-68D011E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01206364-7573-E70E-260E-32B6655D84AD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EDFE4904-8E62-0EE2-59EA-AE199C0B93D1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067B6CD-D873-F3B3-145F-20DE679BFD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4A0F3C7-3A50-5395-FF2F-001825F2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1B5134B3-AAB9-B97C-F945-F0523EFB46A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FE6CB864-916D-4DC6-58A2-DEFAF6C8F150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E33F6E8F-BC45-20B3-1417-C0B1FB45D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69F75089-D466-D9C2-C86D-7E38A6972CCA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14B60D88-F9FC-5118-C75A-B1849E730EAA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943C4E87-FC1C-09BC-43BE-0E58CA329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FD73CC3-4578-593C-0550-EC5149178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050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B21F-76B8-1B56-0DAC-96922BA0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F0E49C5-358B-CB2A-7461-ABCE996FF436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4416F6E7-CD1F-13D5-25BC-87DA7ECDAD8B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5B15B50-B608-E994-DA7C-7A050E7FE7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72B2355-972D-DBCC-94D8-A0EB8D01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6F00787E-9CD8-F227-9F03-430816962AD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EE08A89F-D6C5-628A-7A1D-0F04B2FE9FB6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F26E84D-914E-3072-267C-9128FAA34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B43DF9F6-BA67-5997-BD28-DB8AEC659FA4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C8EF3757-8DC9-0503-55DD-693712339802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23CAD26D-F226-5A99-6CE7-7CA0B4644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928A525-99CA-0CFD-25A9-9F93EE5FA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96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868B-E736-4BA5-67D0-2E5181B8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6CC94FA-0A24-35F7-3D33-5CC8ECA8D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24DBC4D-6AE4-3FED-3B27-165E4BDC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B5822F-63A6-BFF6-CD0F-AA6400F0730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56F9A-DFD3-9276-CE73-C0F3FFCD2171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244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FB81482-BFC9-76C4-3235-64528B64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73" y="885298"/>
            <a:ext cx="7772400" cy="64000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4767E0-31D8-01C1-78AD-AD2F4BC05E4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2014280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74F9-1DE4-764B-9E8C-ED032563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3CD80B-5216-F56F-FB84-94566094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46" y="522633"/>
            <a:ext cx="6540500" cy="6210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FE8833-8905-38F3-35F3-7967FC56720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022237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FB9A62-DD5C-0466-04E0-51644318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850900"/>
            <a:ext cx="6248400" cy="5156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7B5D0-F1F6-0562-CE31-B7944F42CE60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97546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6CB0A-707D-50FA-1C1C-9BB6DEDE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07A735E-E8D1-7E9F-F40E-757D8413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0C69319-307D-91E5-523E-7E4FB793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BE17B4-5B36-0F89-756E-6F65E3D2858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19BBF-1B0E-B91E-CEA5-6D5D78143103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809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863B-71B3-9CA8-C7D9-6C153E9D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83AE49-EEE8-950E-EE9D-F956D342D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41" y="1287887"/>
            <a:ext cx="9179177" cy="346747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B677B06-DDD2-A845-77B7-1B29B04D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7C2B65-8F9C-B218-C718-6DEC545110E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51F28-66BF-5025-6FB7-7B912E30EF8B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머금고 있었을 때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머금는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머금고 있었을 때 느껴지는 전반적인 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738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868D-C126-482D-1FBE-78907085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99AA9F-DC4E-39F2-F3F0-A5AE242CDC86}"/>
              </a:ext>
            </a:extLst>
          </p:cNvPr>
          <p:cNvSpPr txBox="1"/>
          <p:nvPr/>
        </p:nvSpPr>
        <p:spPr>
          <a:xfrm>
            <a:off x="3058067" y="2733259"/>
            <a:ext cx="6490880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 번째 물 섭취 과제를 연습 후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295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4B9F-9EEF-6D0E-856A-C7BB8D10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5D872F6-321A-8CA8-D65C-7AFB587D9FE0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07A1882-A602-E356-99A6-F5AB6AE7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1F0B1D-86EB-5526-A5DE-387437EFE711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55A637-DF0E-DD97-14F6-A0DA84B574C6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C3067018-4770-CE97-5F80-A24B464B8B1C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5B53B-C3F9-D00F-6313-FC3B7D25D43D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F7EFA5-CF03-5AB4-C870-70BF39BB7B0B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02E5FA3-17BD-5693-92F0-FBF662CC8526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8AA2BD-7445-C556-5C0A-32A76CB1A363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31E91881-728F-B6C6-CFD1-A0E9F254B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78EFAABE-5558-2546-8073-3AE3690C8349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0A94A62D-BD5E-66C3-EB9A-2467B12A2DD1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63A1B5A-241A-D688-1825-822786577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991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F12D-FF08-41AF-E946-BC4C1EB3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60063A5-410C-B4F9-6140-FAA4728D2532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734585-3BAB-276B-E29C-68EEEC62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66039-23F6-1B4C-8161-CC8A58349A3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29763E-B2E0-0CB8-07D8-FFFDE197A509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94111D89-86B2-9E3F-F121-B8592CE207ED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4C7D60-EF73-238E-405E-E4C540D90898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279318-4064-87AE-260C-39D58A6DAC89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01B09B97-06D5-62B3-99A1-155DD2618AE0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92450D-DE72-B2F0-3573-A400EA1D8302}"/>
                </a:ext>
              </a:extLst>
            </p:cNvPr>
            <p:cNvSpPr txBox="1"/>
            <p:nvPr/>
          </p:nvSpPr>
          <p:spPr>
            <a:xfrm>
              <a:off x="3458501" y="2951222"/>
              <a:ext cx="431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2F9BD3AE-97B0-A6A6-A23E-13ED70561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830A0AA-3518-56BF-A56B-3AD7B180CB8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A4524A86-1A1D-6061-758E-32FE8E0C26F6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183C8039-1E8C-6E15-C28B-155CD59B6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0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9956-BFEA-3329-3F22-2C187992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4B7FB7-AACD-8F64-840E-6FA0F20D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57" y="1908249"/>
            <a:ext cx="3162300" cy="47371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7B32F6C-DBEB-661C-9AE9-65135E2F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신호 안내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D7B79-0986-C3AD-A705-A6976EA50B9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BA9913-6CFF-4C5A-609C-2A1482B45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545" y="2309692"/>
            <a:ext cx="2806700" cy="379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AA9CA3-BDB8-C16B-A15F-9A310AECE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363" y="2175950"/>
            <a:ext cx="3632200" cy="405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3193C-F2F7-8325-D5F0-0B917FEEFEFE}"/>
              </a:ext>
            </a:extLst>
          </p:cNvPr>
          <p:cNvSpPr txBox="1"/>
          <p:nvPr/>
        </p:nvSpPr>
        <p:spPr>
          <a:xfrm>
            <a:off x="3821184" y="1658112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</a:t>
            </a:r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개의 원이 화면에 제시됩니다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각각의 의미를 기억하여 해당 지시를 따라주세요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19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0E30-F917-0C78-EFF9-EF3A44D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144D2D0-EC25-B731-9167-15C2147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3A8C82-0C56-D095-1539-F55B7064F91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F5889-E81C-DD60-370D-5AF6EB6CDD42}"/>
              </a:ext>
            </a:extLst>
          </p:cNvPr>
          <p:cNvSpPr txBox="1"/>
          <p:nvPr/>
        </p:nvSpPr>
        <p:spPr>
          <a:xfrm>
            <a:off x="469898" y="1579501"/>
            <a:ext cx="1159805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컵 분량을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번을 나눠 마시게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회 동안 최대한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균일한 양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물을 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</a:t>
            </a:r>
            <a:r>
              <a:rPr kumimoji="1" lang="ko-Kore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원과 삐 소리가 동시에 제시됩니다</a:t>
            </a:r>
            <a:r>
              <a:rPr kumimoji="1" lang="en-US" altLang="ko-Kore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원과 삐 소리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오기 전에는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임의로 물을 삼키지 마세요</a:t>
            </a:r>
            <a:r>
              <a:rPr lang="en-US" altLang="ko-KR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머금지 말고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 신호 때마다 한 모금씩 마셔주세요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en-US" altLang="ko-KR" sz="2400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넷째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삼킴 동작을 일부러 과장하거나 억제하지 마시고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평소대로 자연스럽게</a:t>
            </a:r>
            <a:r>
              <a:rPr lang="ko-KR" altLang="en-US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다섯째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 마신 컵은 참가자님의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왼 편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놓아주세요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여섯째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복부 불편감이나 메스꺼움 등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어떠한 불편감도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느끼시면 즉시 연구자에게 알리고 실험을 중단하실 수 있습니다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63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642D-C8C8-6F77-B942-684BD392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D8B330C-FB4D-EE15-AA2C-8C134D1C5428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4AD57E-B69E-5CDE-A75B-8B4014F0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8F8536-125E-5E14-E8C9-CF0507E2719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F8E8FA1-FD3C-F3D3-EFC1-32A5DAA45431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B4AEFCC5-B4C8-051E-E899-AD95DA566144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29F25D-7AB5-A32C-9A30-788898E4E6B1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552089-4026-F14C-D6A9-8E4E483D685C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3EC46B1-ACE3-7CC6-F3FB-0382316AD0BC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EF758-9440-E032-2E92-DD954A4E75CD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AF1AB3D9-8D54-EC6F-51FB-B9BCDFD96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B042301-E2E0-2925-A32E-6D74C297963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5BD838A2-6D99-314A-BFAE-FBF0312BBE34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8752A5FC-9D36-02EE-C35A-6ED2D327B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519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CB28-3A4A-2237-29C9-BE872FA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303D9C0-3D15-3370-A997-A44EA3E3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후 평가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F29185-BE57-5442-06D3-C759CE1C705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8639-6151-3094-D3D1-B0A3A403F048}"/>
              </a:ext>
            </a:extLst>
          </p:cNvPr>
          <p:cNvSpPr txBox="1"/>
          <p:nvPr/>
        </p:nvSpPr>
        <p:spPr>
          <a:xfrm>
            <a:off x="628864" y="2602791"/>
            <a:ext cx="1124998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총 두 가지 항목을 평가하시게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항목은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완료해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슬라이더 위를 클릭하면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버튼이 나타납니다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마치신 후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누르시면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'+'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표시가 잠깐 나타난 뒤 다음 항목으로 넘어갑니다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질문을 잘 읽고 느끼신 대로 답해 주시기 바랍니다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32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7F93-D7F6-7E16-6EFB-8146535E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8DFD77C-0087-7594-B075-D7610A4B0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075ED4D-E182-45CD-19F4-BC6938D2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7A0BF7-BF42-C201-5945-13DD74B5172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C97DF-4815-7DC9-D7D5-2D6493A9C2E7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065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202F-AC6B-8EB4-2514-8F540ECE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0A4C6DB-F799-AD21-2DEF-16448F8F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98E718-CE5F-A1B4-35FC-EACF30BCFD7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91042-FAF1-D42F-D629-5254D8B70B95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그 순간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마시는 순간 느껴지는 전반적인 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6D4D21-7073-1FCE-B123-1C05DC79C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311" y="1768736"/>
            <a:ext cx="8450484" cy="25109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447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B266-A956-9BB3-908E-6FE1934A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1E6C0-BBD0-98B9-28D6-CA63A7DC9E02}"/>
              </a:ext>
            </a:extLst>
          </p:cNvPr>
          <p:cNvSpPr txBox="1"/>
          <p:nvPr/>
        </p:nvSpPr>
        <p:spPr>
          <a:xfrm>
            <a:off x="3019594" y="2733259"/>
            <a:ext cx="656782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연습 후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번째 물 섭취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457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64A9-0324-E664-A3A3-B706C3EF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2FA59D9-4DCD-45B1-C8CE-4B1C0BF3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0A684E-FA47-A4C8-1825-04A8619E535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A420832-F5DB-A4C6-B506-94076ACD2FEA}"/>
              </a:ext>
            </a:extLst>
          </p:cNvPr>
          <p:cNvSpPr/>
          <p:nvPr/>
        </p:nvSpPr>
        <p:spPr>
          <a:xfrm>
            <a:off x="2105505" y="4190265"/>
            <a:ext cx="8269916" cy="2251022"/>
          </a:xfrm>
          <a:prstGeom prst="roundRect">
            <a:avLst/>
          </a:prstGeom>
          <a:solidFill>
            <a:srgbClr val="D1D1D1">
              <a:alpha val="40000"/>
            </a:srgb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53" name="직선 연결선 2">
            <a:extLst>
              <a:ext uri="{FF2B5EF4-FFF2-40B4-BE49-F238E27FC236}">
                <a16:creationId xmlns:a16="http://schemas.microsoft.com/office/drawing/2014/main" id="{A945B21C-8E0A-E568-B232-BB5FC8D37670}"/>
              </a:ext>
            </a:extLst>
          </p:cNvPr>
          <p:cNvCxnSpPr>
            <a:cxnSpLocks/>
          </p:cNvCxnSpPr>
          <p:nvPr/>
        </p:nvCxnSpPr>
        <p:spPr>
          <a:xfrm flipH="1">
            <a:off x="2213554" y="2743200"/>
            <a:ext cx="6353976" cy="150047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직선 연결선 4">
            <a:extLst>
              <a:ext uri="{FF2B5EF4-FFF2-40B4-BE49-F238E27FC236}">
                <a16:creationId xmlns:a16="http://schemas.microsoft.com/office/drawing/2014/main" id="{39991A48-F9B0-B397-D5F2-642FC757A017}"/>
              </a:ext>
            </a:extLst>
          </p:cNvPr>
          <p:cNvCxnSpPr>
            <a:cxnSpLocks/>
          </p:cNvCxnSpPr>
          <p:nvPr/>
        </p:nvCxnSpPr>
        <p:spPr>
          <a:xfrm>
            <a:off x="9581322" y="2753139"/>
            <a:ext cx="631724" cy="150364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FF2BD0F-E17A-0968-0AD9-DF4A048756DD}"/>
              </a:ext>
            </a:extLst>
          </p:cNvPr>
          <p:cNvSpPr txBox="1"/>
          <p:nvPr/>
        </p:nvSpPr>
        <p:spPr>
          <a:xfrm>
            <a:off x="2333706" y="5068548"/>
            <a:ext cx="985829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모든 과제가 끝나면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간단한 설문조사 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후 실험자의 안내에 따라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귀가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하시면 됩니다</a:t>
            </a:r>
            <a:r>
              <a:rPr kumimoji="1" lang="en-US" altLang="ko-KR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D3E3B5-D4FB-DB45-C887-514CF222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79" y="1750300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2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651228" y="2714622"/>
            <a:ext cx="875851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안내가 끝났습니다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있으신가요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914FF5-50DF-10E5-A052-E14B0D97728C}"/>
              </a:ext>
            </a:extLst>
          </p:cNvPr>
          <p:cNvGrpSpPr/>
          <p:nvPr/>
        </p:nvGrpSpPr>
        <p:grpSpPr>
          <a:xfrm>
            <a:off x="3971025" y="5346140"/>
            <a:ext cx="3990472" cy="863338"/>
            <a:chOff x="4111318" y="418660"/>
            <a:chExt cx="4525892" cy="979176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35A0ED25-171F-C356-5B56-E7990B87D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4" name="그림 9">
              <a:extLst>
                <a:ext uri="{FF2B5EF4-FFF2-40B4-BE49-F238E27FC236}">
                  <a16:creationId xmlns:a16="http://schemas.microsoft.com/office/drawing/2014/main" id="{40639049-A6E9-D52C-0C74-5D0CED790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6" name="그림 13">
              <a:extLst>
                <a:ext uri="{FF2B5EF4-FFF2-40B4-BE49-F238E27FC236}">
                  <a16:creationId xmlns:a16="http://schemas.microsoft.com/office/drawing/2014/main" id="{90014D3E-2C1D-64CC-E102-99AA54197C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7" name="그림 11">
              <a:extLst>
                <a:ext uri="{FF2B5EF4-FFF2-40B4-BE49-F238E27FC236}">
                  <a16:creationId xmlns:a16="http://schemas.microsoft.com/office/drawing/2014/main" id="{849C7FD8-0A71-B559-1482-6BD80B15B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3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1786">
        <p:split orient="vert"/>
      </p:transition>
    </mc:Choice>
    <mc:Fallback xmlns="">
      <p:transition spd="slow" advTm="11786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63172</TotalTime>
  <Words>1454</Words>
  <Application>Microsoft Macintosh PowerPoint</Application>
  <PresentationFormat>와이드스크린</PresentationFormat>
  <Paragraphs>233</Paragraphs>
  <Slides>39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Apple SD Gothic Neo</vt:lpstr>
      <vt:lpstr>Aptos</vt:lpstr>
      <vt:lpstr>Aptos Display</vt:lpstr>
      <vt:lpstr>Arial</vt:lpstr>
      <vt:lpstr>Wingdings</vt:lpstr>
      <vt:lpstr>Office 테마</vt:lpstr>
      <vt:lpstr> 물 섭취와 갈증 변화의  관계 연구   </vt:lpstr>
      <vt:lpstr>실험의 목적 </vt:lpstr>
      <vt:lpstr>연구 진행 순서  </vt:lpstr>
      <vt:lpstr>실험 전 준비</vt:lpstr>
      <vt:lpstr>자유 연상 과제</vt:lpstr>
      <vt:lpstr>자유 연상 과제</vt:lpstr>
      <vt:lpstr>자유 연상 과제</vt:lpstr>
      <vt:lpstr>자유 연상 과제</vt:lpstr>
      <vt:lpstr>자유 연상 과제</vt:lpstr>
      <vt:lpstr>PowerPoint 프레젠테이션</vt:lpstr>
      <vt:lpstr>PowerPoint 프레젠테이션</vt:lpstr>
      <vt:lpstr>자유 연상 과제</vt:lpstr>
      <vt:lpstr>자유 연상 과제</vt:lpstr>
      <vt:lpstr>PowerPoint 프레젠테이션</vt:lpstr>
      <vt:lpstr>PowerPoint 프레젠테이션</vt:lpstr>
      <vt:lpstr>PowerPoint 프레젠테이션</vt:lpstr>
      <vt:lpstr>자유 연상 과제</vt:lpstr>
      <vt:lpstr>PowerPoint 프레젠테이션</vt:lpstr>
      <vt:lpstr>PowerPoint 프레젠테이션</vt:lpstr>
      <vt:lpstr>물 섭취 과제1</vt:lpstr>
      <vt:lpstr>물 섭취 과제1</vt:lpstr>
      <vt:lpstr>평가 항목 이해하기</vt:lpstr>
      <vt:lpstr>PowerPoint 프레젠테이션</vt:lpstr>
      <vt:lpstr>PowerPoint 프레젠테이션</vt:lpstr>
      <vt:lpstr>PowerPoint 프레젠테이션</vt:lpstr>
      <vt:lpstr>평가 항목 이해하기</vt:lpstr>
      <vt:lpstr>평가 항목 이해하기</vt:lpstr>
      <vt:lpstr>PowerPoint 프레젠테이션</vt:lpstr>
      <vt:lpstr>물 섭취 과제</vt:lpstr>
      <vt:lpstr>물 섭취 과제</vt:lpstr>
      <vt:lpstr>실험 신호 안내</vt:lpstr>
      <vt:lpstr>물 섭취 과제 주의사항</vt:lpstr>
      <vt:lpstr>물 섭취 과제</vt:lpstr>
      <vt:lpstr>물 섭취 후 평가 주의사항</vt:lpstr>
      <vt:lpstr>평가 항목 이해하기</vt:lpstr>
      <vt:lpstr>평가 항목 이해하기</vt:lpstr>
      <vt:lpstr>PowerPoint 프레젠테이션</vt:lpstr>
      <vt:lpstr>사후 설문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이정인</dc:creator>
  <cp:lastModifiedBy>이정인</cp:lastModifiedBy>
  <cp:revision>80</cp:revision>
  <dcterms:created xsi:type="dcterms:W3CDTF">2026-04-08T04:56:17Z</dcterms:created>
  <dcterms:modified xsi:type="dcterms:W3CDTF">2026-06-09T00:54:24Z</dcterms:modified>
</cp:coreProperties>
</file>